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A7F36BC-0CD7-1CE6-83FB-CDB9CC17D4A9}">
          <p14:sldIdLst>
            <p14:sldId id="256"/>
          </p14:sldIdLst>
        </p14:section>
        <p14:section name="Problem &amp; Solution" id="{559B4587-2CDE-55C8-8CCE-819766C7A7C6}">
          <p14:sldIdLst>
            <p14:sldId id="257"/>
            <p14:sldId id="258"/>
          </p14:sldIdLst>
        </p14:section>
        <p14:section name="Product" id="{34012A57-FBBE-3C56-3F17-9DACF81B8FF0}">
          <p14:sldIdLst>
            <p14:sldId id="259"/>
            <p14:sldId id="260"/>
            <p14:sldId id="261"/>
          </p14:sldIdLst>
        </p14:section>
        <p14:section name="Business" id="{BA2FAC7C-553E-9999-B770-B57618AD1266}">
          <p14:sldIdLst>
            <p14:sldId id="262"/>
            <p14:sldId id="263"/>
          </p14:sldIdLst>
        </p14:section>
        <p14:section name="Execution" id="{7A94E4DC-2C79-AFF3-B4F1-228D73CBC1E7}">
          <p14:sldIdLst>
            <p14:sldId id="264"/>
          </p14:sldIdLst>
        </p14:section>
        <p14:section name="Close" id="{5347C592-9A85-1EBE-BAB9-04A392BEF16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91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LiftMind as an edge AI and computer vision retrofit kit designed to solve the multi-billion dollar problem of legacy elevators operating blindly without passenger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core failure modes of legacy elevators: phantom calls wasting power, complete absence of emergency detection, prohibitive capital costs for controller replacement, and restrictive OEM vendor lock-in across commercial real estate.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plug-and-play retrofit methodology. Emphasize how the relay interface completely circumvents regulatory re-certification while on-device edge AI guarantees zero video leaks and sub-10ms response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two views: on the left, facility managers monitor fleet metrics; on the right, the CV model detects people, stretchers, and intent at 30 fps.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traffic intelligence features 1 through 4: dynamic dispatching, critical hospital priority preemption, direct power savings via phantom call cancellation, and scheduled idle staging.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cabin safety and intuitive gesture UX: dual-modal capacity checking, instant passenger collapse alerts, multi-tap intent capture, and touchless palm-gesture door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TAM is $30B–$35B. The India retrofit beachhead is $1.45B across healthcare and commercial assets. The Phase 1 pilot figure is arithmetic on list prices: 25 shafts × $2,000 kit and 25 shafts × $300 per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unit economics work from day one: $2,000 upfront hardware pays for deployment, $300/year provides sticky high-margin ARR, and AMC channel partners handle distribution and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our rollout: hospital validation creates high-urgency proof points, followed by high-density commercial office campuses. Close with the ask and introduce the founding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founding team and close with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LIFTMIND · EDGE AI RETROFIT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B5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B5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levator lobby with steel doo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42632" y="0"/>
            <a:ext cx="484632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&amp; COMPUTER VISION RETROFIT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LiftMind — Giving Existing Elevators Eyes, Context &amp; an Intelligent Brain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Tagline: </a:t>
            </a:r>
            <a:r>
              <a:rPr lang="en-US" sz="18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Brand-Agnostic Edge AI &amp; Computer Vision Retrofit Kit for Legacy Elevators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4114800"/>
            <a:ext cx="6400800" cy="1325880"/>
          </a:xfrm>
          <a:prstGeom prst="roundRect">
            <a:avLst>
              <a:gd name="adj" fmla="val 6897"/>
            </a:avLst>
          </a:prstGeom>
          <a:solidFill>
            <a:srgbClr val="084440"/>
          </a:solidFill>
          <a:ln w="9525">
            <a:solidFill>
              <a:srgbClr val="19D3C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114800"/>
            <a:ext cx="594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 Proposition: </a:t>
            </a:r>
            <a:r>
              <a:rPr lang="en-US" sz="14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replace elevators; we upgrade existing "dumb" elevators with traffic optimization, emergency priority, and safety intelligence for 1/10th the cost of mechanical modernization.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60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for: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1600" y="5760720"/>
            <a:ext cx="1005840" cy="365760"/>
          </a:xfrm>
          <a:prstGeom prst="roundRect">
            <a:avLst>
              <a:gd name="adj" fmla="val 25000"/>
            </a:avLst>
          </a:prstGeom>
          <a:solidFill>
            <a:srgbClr val="1B232B"/>
          </a:solidFill>
          <a:ln w="9525">
            <a:solidFill>
              <a:srgbClr val="19D3C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71600" y="57607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87168" y="5760720"/>
            <a:ext cx="1051560" cy="365760"/>
          </a:xfrm>
          <a:prstGeom prst="roundRect">
            <a:avLst>
              <a:gd name="adj" fmla="val 25000"/>
            </a:avLst>
          </a:prstGeom>
          <a:solidFill>
            <a:srgbClr val="1B232B"/>
          </a:solidFill>
          <a:ln w="9525">
            <a:solidFill>
              <a:srgbClr val="19D3C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87168" y="5760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48456" y="5760720"/>
            <a:ext cx="914400" cy="365760"/>
          </a:xfrm>
          <a:prstGeom prst="roundRect">
            <a:avLst>
              <a:gd name="adj" fmla="val 25000"/>
            </a:avLst>
          </a:prstGeom>
          <a:solidFill>
            <a:srgbClr val="1B232B"/>
          </a:solidFill>
          <a:ln w="9525">
            <a:solidFill>
              <a:srgbClr val="19D3C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48456" y="5760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Parks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72584" y="5760720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1B232B"/>
          </a:solidFill>
          <a:ln w="9525">
            <a:solidFill>
              <a:srgbClr val="19D3C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72584" y="5760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High-Rises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B5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spital stretcher waiting by an eleva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3832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8404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CHALLENGES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3840480" y="8229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Legacy Elevators Are Blind to Passenger Context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840480" y="2194560"/>
            <a:ext cx="3840480" cy="1965960"/>
          </a:xfrm>
          <a:prstGeom prst="roundRect">
            <a:avLst>
              <a:gd name="adj" fmla="val 4651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023360" y="2359152"/>
            <a:ext cx="457200" cy="457200"/>
          </a:xfrm>
          <a:prstGeom prst="ellipse">
            <a:avLst/>
          </a:prstGeom>
          <a:solidFill>
            <a:srgbClr val="084440"/>
          </a:solidFill>
          <a:ln w="12700">
            <a:solidFill>
              <a:srgbClr val="084440"/>
            </a:solidFill>
            <a:prstDash val="solid"/>
          </a:ln>
        </p:spPr>
      </p:sp>
      <p:pic>
        <p:nvPicPr>
          <p:cNvPr id="7" name="Image 1" descr="Wasted Energy &amp; Time: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944" y="2459736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617720" y="2359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Energy &amp; Time: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023360" y="29260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elevators stop at floors even when passengers walk away (phantom calls) or when the cabin is already physically packed with luggage.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863840" y="2194560"/>
            <a:ext cx="3840480" cy="1965960"/>
          </a:xfrm>
          <a:prstGeom prst="roundRect">
            <a:avLst>
              <a:gd name="adj" fmla="val 4651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046720" y="2359152"/>
            <a:ext cx="457200" cy="457200"/>
          </a:xfrm>
          <a:prstGeom prst="ellipse">
            <a:avLst/>
          </a:prstGeom>
          <a:solidFill>
            <a:srgbClr val="084440"/>
          </a:solidFill>
          <a:ln w="12700">
            <a:solidFill>
              <a:srgbClr val="084440"/>
            </a:solidFill>
            <a:prstDash val="solid"/>
          </a:ln>
        </p:spPr>
      </p:sp>
      <p:pic>
        <p:nvPicPr>
          <p:cNvPr id="12" name="Image 2" descr="Zero Emergency Awareness: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304" y="2459736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641080" y="2359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Emergency Awareness: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046720" y="29260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lifts cannot distinguish between a routine hall call and a critical hospital stretcher emergency, nor can they detect if a solo rider collapses inside the cabin.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840480" y="4297680"/>
            <a:ext cx="3840480" cy="1965960"/>
          </a:xfrm>
          <a:prstGeom prst="roundRect">
            <a:avLst>
              <a:gd name="adj" fmla="val 4651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023360" y="4462272"/>
            <a:ext cx="457200" cy="457200"/>
          </a:xfrm>
          <a:prstGeom prst="ellipse">
            <a:avLst/>
          </a:prstGeom>
          <a:solidFill>
            <a:srgbClr val="084440"/>
          </a:solidFill>
          <a:ln w="12700">
            <a:solidFill>
              <a:srgbClr val="084440"/>
            </a:solidFill>
            <a:prstDash val="solid"/>
          </a:ln>
        </p:spPr>
      </p:sp>
      <p:pic>
        <p:nvPicPr>
          <p:cNvPr id="17" name="Image 3" descr="Prohibitive Upgrade Costs: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944" y="4562856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617720" y="4462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Prohibitive Upgrade Costs: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4023360" y="50292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an elevator controller costs ₹47.5 Lakh–₹66.5 Lakh ($50K–$70K) globally or ₹3 Lakh–₹8 Lakh in India, while new commercial lifts cost ₹6 Lakh–₹25 Lakh+ in India ($75K–$350K globally).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863840" y="4297680"/>
            <a:ext cx="3840480" cy="1965960"/>
          </a:xfrm>
          <a:prstGeom prst="roundRect">
            <a:avLst>
              <a:gd name="adj" fmla="val 4651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046720" y="4462272"/>
            <a:ext cx="457200" cy="457200"/>
          </a:xfrm>
          <a:prstGeom prst="ellipse">
            <a:avLst/>
          </a:prstGeom>
          <a:solidFill>
            <a:srgbClr val="084440"/>
          </a:solidFill>
          <a:ln w="12700">
            <a:solidFill>
              <a:srgbClr val="084440"/>
            </a:solidFill>
            <a:prstDash val="solid"/>
          </a:ln>
        </p:spPr>
      </p:sp>
      <p:pic>
        <p:nvPicPr>
          <p:cNvPr id="22" name="Image 4" descr="Vendor Lock-In: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4562856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641080" y="446227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Lock-In: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8046720" y="502920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dispatch systems from Otis, KONE, and Schindler are locked to expensive new OEM installations rather than legacy mixed-brand fleets.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B5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ark elevator interi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05672" y="0"/>
            <a:ext cx="33832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LiftMind Solution — Universal Plug-and-Play AI Retrofit Kit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7955280" cy="1417320"/>
          </a:xfrm>
          <a:prstGeom prst="roundRect">
            <a:avLst>
              <a:gd name="adj" fmla="val 6452"/>
            </a:avLst>
          </a:prstGeom>
          <a:solidFill>
            <a:srgbClr val="084440"/>
          </a:solidFill>
          <a:ln w="9525">
            <a:solidFill>
              <a:srgbClr val="19D3C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Stack:</a:t>
            </a:r>
            <a:endParaRPr lang="en-US" sz="1500" dirty="0"/>
          </a:p>
        </p:txBody>
      </p:sp>
      <p:pic>
        <p:nvPicPr>
          <p:cNvPr id="7" name="Image 1" descr="1 Hallway Landing Camer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24712" y="257860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Hallway Landing Camera</a:t>
            </a:r>
            <a:endParaRPr lang="en-US" sz="1300" dirty="0"/>
          </a:p>
        </p:txBody>
      </p:sp>
      <p:pic>
        <p:nvPicPr>
          <p:cNvPr id="9" name="Image 2" descr="1 Overhead Cabin Camer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26517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044952" y="257860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Overhead Cabin Camera</a:t>
            </a:r>
            <a:endParaRPr lang="en-US" sz="1300" dirty="0"/>
          </a:p>
        </p:txBody>
      </p:sp>
      <p:pic>
        <p:nvPicPr>
          <p:cNvPr id="11" name="Image 3" descr="Local Edge AI Compute Bo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2651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965192" y="257860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Edge AI Compute Box</a:t>
            </a:r>
            <a:endParaRPr lang="en-US" sz="1300" dirty="0"/>
          </a:p>
        </p:txBody>
      </p:sp>
      <p:pic>
        <p:nvPicPr>
          <p:cNvPr id="13" name="Image 4" descr="Relay Controller Interface Boar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651760"/>
            <a:ext cx="274320" cy="27432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885432" y="257860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Controller Interface Board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548640" y="374904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731520" y="3913632"/>
            <a:ext cx="457200" cy="457200"/>
          </a:xfrm>
          <a:prstGeom prst="ellipse">
            <a:avLst/>
          </a:prstGeom>
          <a:solidFill>
            <a:srgbClr val="084440"/>
          </a:solidFill>
          <a:ln w="12700">
            <a:solidFill>
              <a:srgbClr val="084440"/>
            </a:solidFill>
            <a:prstDash val="solid"/>
          </a:ln>
        </p:spPr>
      </p:sp>
      <p:pic>
        <p:nvPicPr>
          <p:cNvPr id="17" name="Image 5" descr="100% On-Device Edge Privacy: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4014216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31520" y="4480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On-Device Edge Privacy:</a:t>
            </a: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731520" y="4983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inference (YOLOv8 &amp; MediaPipe) runs locally on the edge box with zero cloud video streaming and zero latency.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3246120" y="374904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3429000" y="3913632"/>
            <a:ext cx="457200" cy="457200"/>
          </a:xfrm>
          <a:prstGeom prst="ellipse">
            <a:avLst/>
          </a:prstGeom>
          <a:solidFill>
            <a:srgbClr val="084440"/>
          </a:solidFill>
          <a:ln w="12700">
            <a:solidFill>
              <a:srgbClr val="084440"/>
            </a:solidFill>
            <a:prstDash val="solid"/>
          </a:ln>
        </p:spPr>
      </p:sp>
      <p:pic>
        <p:nvPicPr>
          <p:cNvPr id="22" name="Image 6" descr="Zero Mechanical Tampering: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9584" y="4014216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3429000" y="4480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Mechanical Tampering:</a:t>
            </a: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3429000" y="4983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via standard button-call relays rather than safety brake wiring, bypassing multi-year mechanical recertification delays.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5943600" y="3749040"/>
            <a:ext cx="2560320" cy="2468880"/>
          </a:xfrm>
          <a:prstGeom prst="roundRect">
            <a:avLst>
              <a:gd name="adj" fmla="val 3704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6126480" y="3913632"/>
            <a:ext cx="457200" cy="457200"/>
          </a:xfrm>
          <a:prstGeom prst="ellipse">
            <a:avLst/>
          </a:prstGeom>
          <a:solidFill>
            <a:srgbClr val="084440"/>
          </a:solidFill>
          <a:ln w="12700">
            <a:solidFill>
              <a:srgbClr val="084440"/>
            </a:solidFill>
            <a:prstDash val="solid"/>
          </a:ln>
        </p:spPr>
      </p:sp>
      <p:pic>
        <p:nvPicPr>
          <p:cNvPr id="27" name="Image 7" descr="Brand-Agnostic: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7064" y="4014216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6126480" y="4480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Brand-Agnostic:</a:t>
            </a:r>
            <a:endParaRPr lang="en-US" sz="1400" dirty="0"/>
          </a:p>
        </p:txBody>
      </p:sp>
      <p:sp>
        <p:nvSpPr>
          <p:cNvPr id="29" name="Text 19"/>
          <p:cNvSpPr txBox="1"/>
          <p:nvPr/>
        </p:nvSpPr>
        <p:spPr>
          <a:xfrm>
            <a:off x="6126480" y="49834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seamlessly across any legacy hydraulic, traction, or MRL (Machine-Room-Less) elevator fleet.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B5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 DEMONSTRATION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LiftMind in action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perception meets spatial dispatch: our twin engines in action.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86000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084440"/>
          </a:solidFill>
          <a:ln w="9525">
            <a:solidFill>
              <a:srgbClr val="0844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SLOT 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Dashboard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200400"/>
            <a:ext cx="4937760" cy="1874520"/>
          </a:xfrm>
          <a:prstGeom prst="roundRect">
            <a:avLst>
              <a:gd name="adj" fmla="val 3902"/>
            </a:avLst>
          </a:prstGeom>
          <a:solidFill>
            <a:srgbClr val="0E141A"/>
          </a:solidFill>
          <a:ln w="12700">
            <a:solidFill>
              <a:srgbClr val="19D3C5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77240" y="320040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User to supply screenshot: Digital Twin Interface 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212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Telemetry: 3D elevator shaft positions, lobby congestion heatmaps, and fleet dispatch efficiency.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2286000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084440"/>
          </a:solidFill>
          <a:ln w="9525">
            <a:solidFill>
              <a:srgbClr val="0844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286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SLOT 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Computer-Vision Window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46520" y="3200400"/>
            <a:ext cx="4937760" cy="1874520"/>
          </a:xfrm>
          <a:prstGeom prst="roundRect">
            <a:avLst>
              <a:gd name="adj" fmla="val 3902"/>
            </a:avLst>
          </a:prstGeom>
          <a:solidFill>
            <a:srgbClr val="0E141A"/>
          </a:solidFill>
          <a:ln w="12700">
            <a:solidFill>
              <a:srgbClr val="19D3C5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446520" y="3200400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User to supply screenshot: OpenCV / Inference Feed ]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5212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inference: real-time bounding boxes, gesture recognition, and passenger load calculations.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B5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CAPABILITIES · 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Traffic Intelligence (Features 1 to 4 of 8)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084440"/>
          </a:solidFill>
          <a:ln w="12700">
            <a:solidFill>
              <a:srgbClr val="19D3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1 — Dynamic Multi-Car Load Balancing: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173736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Lift A reaches capacity (Weight ≥ 85% or Cabin Space ≥ 90%), external landing calls are automatically delegated to an idle or empty Lift B.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235440" y="182880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084440"/>
          </a:solidFill>
          <a:ln w="9525">
            <a:solidFill>
              <a:srgbClr val="0844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23544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85%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235440" y="2258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or ≥ 90% space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52928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127248"/>
            <a:ext cx="502920" cy="502920"/>
          </a:xfrm>
          <a:prstGeom prst="ellipse">
            <a:avLst/>
          </a:prstGeom>
          <a:solidFill>
            <a:srgbClr val="084440"/>
          </a:solidFill>
          <a:ln w="12700">
            <a:solidFill>
              <a:srgbClr val="19D3C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94436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2 — Computer Vision Stretcher Priority Preemption: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251960" y="289864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Hallway cameras detect medical stretchers (99% confidence), immediately overriding normal queues to travel non-stop to the emergency floor while handing routine stops to the secondary lift.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35440" y="2990088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084440"/>
          </a:solidFill>
          <a:ln w="9525">
            <a:solidFill>
              <a:srgbClr val="0844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544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419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confidence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14216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288536"/>
            <a:ext cx="502920" cy="502920"/>
          </a:xfrm>
          <a:prstGeom prst="ellipse">
            <a:avLst/>
          </a:prstGeom>
          <a:solidFill>
            <a:srgbClr val="084440"/>
          </a:solidFill>
          <a:ln w="12700">
            <a:solidFill>
              <a:srgbClr val="19D3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288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4105656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3 — Phantom Call Cancellation: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51960" y="4059936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landing button is pressed but the passenger walks away (0 waiting riders), a 3.0-second verification countdown cancels the call, saving 0.18 kWh per avoided stop.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235440" y="4151376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084440"/>
          </a:solidFill>
          <a:ln w="9525">
            <a:solidFill>
              <a:srgbClr val="0844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35440" y="41970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 kWh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45811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avoided stop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175504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5449824"/>
            <a:ext cx="502920" cy="502920"/>
          </a:xfrm>
          <a:prstGeom prst="ellipse">
            <a:avLst/>
          </a:prstGeom>
          <a:solidFill>
            <a:srgbClr val="084440"/>
          </a:solidFill>
          <a:ln w="12700">
            <a:solidFill>
              <a:srgbClr val="19D3C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5449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266944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4 — Predictive Peak-Hour Floor Staging: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251960" y="5221224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Pre-positions idle lifts ahead of demand based on building schedules—Ground Floor (Flr 1) during 8:55 AM Morning Rush, Floors 1 &amp; 4 during 1:15 PM Lunch, and Top Floors (Flr 6 &amp; 5) during 4:30 PM Campus/Office Exit.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235440" y="5312664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084440"/>
          </a:solidFill>
          <a:ln w="9525">
            <a:solidFill>
              <a:srgbClr val="08444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35440" y="53583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8:55 · 1:15 · 4:30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235440" y="5742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times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B5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CAPABILITIES · 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 Safety &amp; Gesture UX (Features 5 to 8 of 8)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pic>
        <p:nvPicPr>
          <p:cNvPr id="5" name="Image 0" descr="Feature 5 — Dual-Modal Full-Capacity Bypass: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120640" y="18745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8B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828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5 — Dual-Modal Full-Capacity Bypass: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7744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load-cell weight sensors (85% limit) with overhead CV floor-space tracking (90% limit). If bulky luggage or crowds fill 90%+ of floor space while weight is only 55%, the lift still bypasses external hall calls non-stop.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3474720"/>
            <a:ext cx="2377440" cy="310896"/>
          </a:xfrm>
          <a:prstGeom prst="roundRect">
            <a:avLst>
              <a:gd name="adj" fmla="val 29412"/>
            </a:avLst>
          </a:prstGeom>
          <a:solidFill>
            <a:srgbClr val="084440"/>
          </a:solidFill>
          <a:ln w="9525">
            <a:solidFill>
              <a:srgbClr val="08444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4747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weight · 90% space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pic>
        <p:nvPicPr>
          <p:cNvPr id="12" name="Image 1" descr="Feature 6 — In-Cabin Distress &amp; Collapse Siren: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8745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744200" y="18745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8B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1828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6 — In-Cabin Distress &amp; Collapse Siren: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355080" y="237744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CV detects unconscious or collapsed passengers, immediately halting the car at the current floor with doors locked 100% open, triggering an emergency siren, and alerting security.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355080" y="3474720"/>
            <a:ext cx="2377440" cy="310896"/>
          </a:xfrm>
          <a:prstGeom prst="roundRect">
            <a:avLst>
              <a:gd name="adj" fmla="val 29412"/>
            </a:avLst>
          </a:prstGeom>
          <a:solidFill>
            <a:srgbClr val="084440"/>
          </a:solidFill>
          <a:ln w="9525">
            <a:solidFill>
              <a:srgbClr val="08444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355080" y="34747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Doors locked 100% open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402336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pic>
        <p:nvPicPr>
          <p:cNvPr id="19" name="Image 2" descr="Feature 7 — Multi-Tap Destination Headcount Tracking: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062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20640" y="42062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8B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234440" y="4160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7 — Multi-Tap Destination Headcount Tracking: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31520" y="470916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tap a floor button multiple times (e.g., 5 taps on Floor 6 = 5 riders exiting at Floor 6), letting the AI forecast exact space clearance (-90% space at Flr 6) to pre-schedule subsequent calls.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31520" y="5806440"/>
            <a:ext cx="2377440" cy="310896"/>
          </a:xfrm>
          <a:prstGeom prst="roundRect">
            <a:avLst>
              <a:gd name="adj" fmla="val 29412"/>
            </a:avLst>
          </a:prstGeom>
          <a:solidFill>
            <a:srgbClr val="084440"/>
          </a:solidFill>
          <a:ln w="9525">
            <a:solidFill>
              <a:srgbClr val="084440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31520" y="5806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taps = 5 riders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172200" y="402336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pic>
        <p:nvPicPr>
          <p:cNvPr id="26" name="Image 3" descr="Feature 8 — Hallway Palm-Gesture Door Hold: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42062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744200" y="42062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8B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0" y="4160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8 — Hallway Palm-Gesture Door Hold: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6355080" y="4709160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Rushing passengers hold up an open palm toward the hallway camera (tracked via 21-point MediaPipe hand landmarks) to immediately reverse closing doors and hold them open for 5.0 seconds.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355080" y="5806440"/>
            <a:ext cx="2377440" cy="310896"/>
          </a:xfrm>
          <a:prstGeom prst="roundRect">
            <a:avLst>
              <a:gd name="adj" fmla="val 29412"/>
            </a:avLst>
          </a:prstGeom>
          <a:solidFill>
            <a:srgbClr val="084440"/>
          </a:solidFill>
          <a:ln w="9525">
            <a:solidFill>
              <a:srgbClr val="08444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355080" y="5806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21-point · 5.0 s hold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B5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ffice towers at n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05672" y="0"/>
            <a:ext cx="33832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 (Global &amp; India TAM / SAM / SOM)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7955280" cy="1371600"/>
          </a:xfrm>
          <a:prstGeom prst="roundRect">
            <a:avLst>
              <a:gd name="adj" fmla="val 6667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1945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8B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TAM (Total Addressable Market):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560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₹2.85 Lakh Crore – ₹3.33 Lakh Crore ($30B–$35B)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97280" y="365760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084440"/>
          </a:solidFill>
          <a:ln w="9525">
            <a:solidFill>
              <a:srgbClr val="19D3C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25880" y="3730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A8B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Retrofit Beachhead (SAM)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400507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$1.45B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400507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elevator retrofit opportunity across healthcare and commercial assets.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645920" y="5074920"/>
            <a:ext cx="5760720" cy="1188720"/>
          </a:xfrm>
          <a:prstGeom prst="roundRect">
            <a:avLst>
              <a:gd name="adj" fmla="val 7692"/>
            </a:avLst>
          </a:prstGeom>
          <a:solidFill>
            <a:srgbClr val="1B232B"/>
          </a:solidFill>
          <a:ln w="9525">
            <a:solidFill>
              <a:srgbClr val="FFB0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74520" y="51480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Pilot (SOM)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874520" y="5440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hospitals · 25 shafts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874520" y="58521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 kit revenue + $7,500/yr SaaS at list price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B5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chnician at an elevator shaf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05672" y="0"/>
            <a:ext cx="33832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ARCHITECTURE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kit plus $300 a year SaaS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hardware; recurring enterprise telemetry contracts.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286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$2,000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Kit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compute, dual wide-angle camera pods and plug-and-play relay modules.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17720" y="2194560"/>
            <a:ext cx="3886200" cy="2103120"/>
          </a:xfrm>
          <a:prstGeom prst="roundRect">
            <a:avLst>
              <a:gd name="adj" fmla="val 4348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2286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r>
              <a:rPr lang="en-US" sz="2000" dirty="0">
                <a:solidFill>
                  <a:srgbClr val="19D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/yr</a:t>
            </a:r>
            <a:endParaRPr lang="en-US" sz="4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SaaS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34747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dashboard, predictive health alerts, OTA models and hospital fleet integration.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526280"/>
            <a:ext cx="7955280" cy="1280160"/>
          </a:xfrm>
          <a:prstGeom prst="roundRect">
            <a:avLst>
              <a:gd name="adj" fmla="val 7143"/>
            </a:avLst>
          </a:prstGeom>
          <a:solidFill>
            <a:srgbClr val="084440"/>
          </a:solidFill>
          <a:ln w="9525">
            <a:solidFill>
              <a:srgbClr val="19D3C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5262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Engine: </a:t>
            </a:r>
            <a:r>
              <a:rPr lang="en-US" sz="1600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Annual Maintenance Contract (AMC) elevator partners sell, install and service for instant zero-CAC scaling.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B5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hospital pilots, then tech parks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2743200"/>
            <a:ext cx="9966960" cy="0"/>
          </a:xfrm>
          <a:prstGeom prst="line">
            <a:avLst/>
          </a:prstGeom>
          <a:noFill/>
          <a:ln w="25400">
            <a:solidFill>
              <a:srgbClr val="19D3C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31520" y="2331720"/>
            <a:ext cx="822960" cy="822960"/>
          </a:xfrm>
          <a:prstGeom prst="ellipse">
            <a:avLst/>
          </a:prstGeom>
          <a:solidFill>
            <a:srgbClr val="084440"/>
          </a:solidFill>
          <a:ln w="25400">
            <a:solidFill>
              <a:srgbClr val="19D3C5"/>
            </a:solidFill>
            <a:prstDash val="solid"/>
          </a:ln>
        </p:spPr>
      </p:sp>
      <p:pic>
        <p:nvPicPr>
          <p:cNvPr id="6" name="Image 0" descr="5 Hospital Pil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14600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47472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Hospital Pilots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3891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Stretcher Priority and zero-delay critical runs across 25 total shafts.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26280" y="2331720"/>
            <a:ext cx="822960" cy="822960"/>
          </a:xfrm>
          <a:prstGeom prst="ellipse">
            <a:avLst/>
          </a:prstGeom>
          <a:solidFill>
            <a:srgbClr val="084440"/>
          </a:solidFill>
          <a:ln w="25400">
            <a:solidFill>
              <a:srgbClr val="19D3C5"/>
            </a:solidFill>
            <a:prstDash val="solid"/>
          </a:ln>
        </p:spPr>
      </p:sp>
      <p:pic>
        <p:nvPicPr>
          <p:cNvPr id="12" name="Image 1" descr="Commercial Tech Park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514600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43400" y="347472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Tech Parks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43891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Phantom Call reduction and peak dispatch optimization across IT corridors.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321040" y="2331720"/>
            <a:ext cx="822960" cy="822960"/>
          </a:xfrm>
          <a:prstGeom prst="ellipse">
            <a:avLst/>
          </a:prstGeom>
          <a:solidFill>
            <a:srgbClr val="084440"/>
          </a:solidFill>
          <a:ln w="25400">
            <a:solidFill>
              <a:srgbClr val="19D3C5"/>
            </a:solidFill>
            <a:prstDash val="solid"/>
          </a:ln>
        </p:spPr>
      </p:sp>
      <p:pic>
        <p:nvPicPr>
          <p:cNvPr id="18" name="Image 2" descr="National AMC Sca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514600"/>
            <a:ext cx="457200" cy="4572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38160" y="3474720"/>
            <a:ext cx="3611880" cy="2240280"/>
          </a:xfrm>
          <a:prstGeom prst="roundRect">
            <a:avLst>
              <a:gd name="adj" fmla="val 4082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36676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AMC Scale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366760" y="43891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LiftMind as a default line-item upgrade across certified AMC maintenance networks.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validation</a:t>
            </a:r>
            <a:r>
              <a:rPr lang="en-US" sz="15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creates high-urgency proof points,</a:t>
            </a:r>
            <a:r>
              <a:rPr lang="en-US" sz="1500" b="1" dirty="0">
                <a:solidFill>
                  <a:srgbClr val="F2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high-density commercial campuses</a:t>
            </a:r>
            <a:r>
              <a:rPr lang="en-US" sz="15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national scale through AMC networks.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B5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lass office tower at dus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05672" y="0"/>
            <a:ext cx="33832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replace elevators; we give them a brain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2286000"/>
            <a:ext cx="7955280" cy="1417320"/>
          </a:xfrm>
          <a:prstGeom prst="roundRect">
            <a:avLst>
              <a:gd name="adj" fmla="val 6452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542032"/>
            <a:ext cx="914400" cy="914400"/>
          </a:xfrm>
          <a:prstGeom prst="ellipse">
            <a:avLst/>
          </a:prstGeom>
          <a:solidFill>
            <a:srgbClr val="084440"/>
          </a:solidFill>
          <a:ln w="19050">
            <a:solidFill>
              <a:srgbClr val="19D3C5"/>
            </a:solidFill>
            <a:prstDash val="solid"/>
          </a:ln>
        </p:spPr>
      </p:sp>
      <p:pic>
        <p:nvPicPr>
          <p:cNvPr id="7" name="Image 1" descr="FOUNDER / CE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816352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03120" y="2514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CEO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2103120" y="281635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Tanmay Chaudhary ]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2103120" y="32461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AI Engineering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7955280" cy="1417320"/>
          </a:xfrm>
          <a:prstGeom prst="roundRect">
            <a:avLst>
              <a:gd name="adj" fmla="val 6452"/>
            </a:avLst>
          </a:prstGeom>
          <a:solidFill>
            <a:srgbClr val="1B232B"/>
          </a:solidFill>
          <a:ln w="9525">
            <a:solidFill>
              <a:srgbClr val="34414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22960" y="4142232"/>
            <a:ext cx="914400" cy="914400"/>
          </a:xfrm>
          <a:prstGeom prst="ellipse">
            <a:avLst/>
          </a:prstGeom>
          <a:solidFill>
            <a:srgbClr val="084440"/>
          </a:solidFill>
          <a:ln w="19050">
            <a:solidFill>
              <a:srgbClr val="19D3C5"/>
            </a:solidFill>
            <a:prstDash val="solid"/>
          </a:ln>
        </p:spPr>
      </p:sp>
      <p:pic>
        <p:nvPicPr>
          <p:cNvPr id="13" name="Image 2" descr="CO-FOUNDER / CO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41655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10312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/ COO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2103120" y="441655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[Yusuf Khan]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2103120" y="48463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8B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Hardware Supply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548640" y="5486400"/>
            <a:ext cx="7955280" cy="685800"/>
          </a:xfrm>
          <a:prstGeom prst="roundRect">
            <a:avLst>
              <a:gd name="adj" fmla="val 13333"/>
            </a:avLst>
          </a:prstGeom>
          <a:solidFill>
            <a:srgbClr val="084440"/>
          </a:solidFill>
          <a:ln w="12700">
            <a:solidFill>
              <a:srgbClr val="19D3C5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54864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9D3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1/10th the cost of mechanical modernization · Brand-agnostic · 100% on-device privacy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A8B5B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ftMind">
  <a:themeElements>
    <a:clrScheme name="LiftMind">
      <a:dk1>
        <a:srgbClr val="0E141A"/>
      </a:dk1>
      <a:lt1>
        <a:srgbClr val="F2F5F7"/>
      </a:lt1>
      <a:dk2>
        <a:srgbClr val="1B232B"/>
      </a:dk2>
      <a:lt2>
        <a:srgbClr val="A8B5BE"/>
      </a:lt2>
      <a:accent1>
        <a:srgbClr val="19D3C5"/>
      </a:accent1>
      <a:accent2>
        <a:srgbClr val="FFB020"/>
      </a:accent2>
      <a:accent3>
        <a:srgbClr val="084440"/>
      </a:accent3>
      <a:accent4>
        <a:srgbClr val="34414A"/>
      </a:accent4>
      <a:accent5>
        <a:srgbClr val="5EEAD4"/>
      </a:accent5>
      <a:accent6>
        <a:srgbClr val="FF6B5B"/>
      </a:accent6>
      <a:hlink>
        <a:srgbClr val="19D3C5"/>
      </a:hlink>
      <a:folHlink>
        <a:srgbClr val="A8B5BE"/>
      </a:folHlink>
    </a:clrScheme>
    <a:fontScheme name="LiftMin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1469</Words>
  <Application>Microsoft Office PowerPoint</Application>
  <PresentationFormat>Widescreen</PresentationFormat>
  <Paragraphs>154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LiftMind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LiftMind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LiftMind — Giving Existing Elevators Eyes, Context &amp; an Intelligent Brain</dc:title>
  <dc:subject>PptxGenJS Presentation</dc:subject>
  <dc:creator>LiftMind</dc:creator>
  <cp:lastModifiedBy>Yusuf Khan</cp:lastModifiedBy>
  <cp:revision>2</cp:revision>
  <dcterms:created xsi:type="dcterms:W3CDTF">2026-10-31T19:16:30Z</dcterms:created>
  <dcterms:modified xsi:type="dcterms:W3CDTF">2026-10-31T19:22:34Z</dcterms:modified>
</cp:coreProperties>
</file>